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ource Serif Pro" charset="1" panose="02040603050405020204"/>
      <p:regular r:id="rId19"/>
    </p:embeddedFont>
    <p:embeddedFont>
      <p:font typeface="Arimo" charset="1" panose="020B0604020202020204"/>
      <p:regular r:id="rId20"/>
    </p:embeddedFont>
    <p:embeddedFont>
      <p:font typeface="Source Serif Pro Bold" charset="1" panose="02040803050405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0.jpeg" Type="http://schemas.openxmlformats.org/officeDocument/2006/relationships/image"/><Relationship Id="rId4" Target="../media/image4.jpe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7.jpeg" Type="http://schemas.openxmlformats.org/officeDocument/2006/relationships/image"/><Relationship Id="rId4" Target="../media/image4.jpe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1.jpeg" Type="http://schemas.openxmlformats.org/officeDocument/2006/relationships/image"/><Relationship Id="rId4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991" y="848687"/>
            <a:ext cx="4156491" cy="427025"/>
            <a:chOff x="0" y="0"/>
            <a:chExt cx="5541988" cy="5693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41899" cy="569341"/>
            </a:xfrm>
            <a:custGeom>
              <a:avLst/>
              <a:gdLst/>
              <a:ahLst/>
              <a:cxnLst/>
              <a:rect r="r" b="b" t="t" l="l"/>
              <a:pathLst>
                <a:path h="569341" w="5541899">
                  <a:moveTo>
                    <a:pt x="0" y="43942"/>
                  </a:moveTo>
                  <a:cubicBezTo>
                    <a:pt x="0" y="19685"/>
                    <a:pt x="19685" y="0"/>
                    <a:pt x="43942" y="0"/>
                  </a:cubicBezTo>
                  <a:lnTo>
                    <a:pt x="5497957" y="0"/>
                  </a:lnTo>
                  <a:cubicBezTo>
                    <a:pt x="5522214" y="0"/>
                    <a:pt x="5541899" y="19685"/>
                    <a:pt x="5541899" y="43942"/>
                  </a:cubicBezTo>
                  <a:lnTo>
                    <a:pt x="5541899" y="525399"/>
                  </a:lnTo>
                  <a:cubicBezTo>
                    <a:pt x="5541899" y="549656"/>
                    <a:pt x="5522214" y="569341"/>
                    <a:pt x="5497957" y="569341"/>
                  </a:cubicBezTo>
                  <a:lnTo>
                    <a:pt x="43942" y="569341"/>
                  </a:lnTo>
                  <a:cubicBezTo>
                    <a:pt x="19685" y="569341"/>
                    <a:pt x="0" y="549656"/>
                    <a:pt x="0" y="525399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57869" y="940575"/>
            <a:ext cx="4741831" cy="25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🤖</a:t>
            </a:r>
            <a:r>
              <a:rPr lang="en-US" sz="172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BOB AI HACKATHON — AI TRACK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1325051"/>
            <a:ext cx="9452677" cy="98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⚡</a:t>
            </a:r>
            <a:r>
              <a:rPr lang="en-US" sz="5404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 ThreatOps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2640540"/>
            <a:ext cx="9452677" cy="480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3"/>
              </a:lnSpc>
            </a:pPr>
            <a:r>
              <a:rPr lang="en-US" sz="7430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Predictive Grid Outage &amp; Equipment Failure Advisor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991" y="7771533"/>
            <a:ext cx="9452677" cy="167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2101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Predict. Prevent. Keep the Grid On.</a:t>
            </a:r>
          </a:p>
          <a:p>
            <a:pPr algn="l">
              <a:lnSpc>
                <a:spcPts val="3303"/>
              </a:lnSpc>
            </a:pPr>
            <a:r>
              <a:rPr lang="en-US" sz="21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Transforming utility operations from reactive emergency repairs to proactive AI-driven failure prevention across 836+ Gujarat grid assets.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8649" y="0"/>
            <a:ext cx="6863191" cy="10287000"/>
            <a:chOff x="0" y="0"/>
            <a:chExt cx="9150922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15949"/>
            </a:xfrm>
            <a:custGeom>
              <a:avLst/>
              <a:gdLst/>
              <a:ahLst/>
              <a:cxnLst/>
              <a:rect r="r" b="b" t="t" l="l"/>
              <a:pathLst>
                <a:path h="13715949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15949"/>
                  </a:lnTo>
                  <a:lnTo>
                    <a:pt x="0" y="13715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" r="0" b="-3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8219" y="855383"/>
            <a:ext cx="2534231" cy="393516"/>
            <a:chOff x="0" y="0"/>
            <a:chExt cx="3378975" cy="5246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78962" cy="524637"/>
            </a:xfrm>
            <a:custGeom>
              <a:avLst/>
              <a:gdLst/>
              <a:ahLst/>
              <a:cxnLst/>
              <a:rect r="r" b="b" t="t" l="l"/>
              <a:pathLst>
                <a:path h="524637" w="3378962">
                  <a:moveTo>
                    <a:pt x="0" y="41402"/>
                  </a:moveTo>
                  <a:cubicBezTo>
                    <a:pt x="0" y="18542"/>
                    <a:pt x="18542" y="0"/>
                    <a:pt x="41402" y="0"/>
                  </a:cubicBezTo>
                  <a:lnTo>
                    <a:pt x="3337560" y="0"/>
                  </a:lnTo>
                  <a:cubicBezTo>
                    <a:pt x="3360420" y="0"/>
                    <a:pt x="3378962" y="18542"/>
                    <a:pt x="3378962" y="41402"/>
                  </a:cubicBezTo>
                  <a:lnTo>
                    <a:pt x="3378962" y="483235"/>
                  </a:lnTo>
                  <a:cubicBezTo>
                    <a:pt x="3378962" y="506095"/>
                    <a:pt x="3360420" y="524637"/>
                    <a:pt x="3337560" y="524637"/>
                  </a:cubicBezTo>
                  <a:lnTo>
                    <a:pt x="41402" y="524637"/>
                  </a:lnTo>
                  <a:cubicBezTo>
                    <a:pt x="18542" y="524637"/>
                    <a:pt x="0" y="506095"/>
                    <a:pt x="0" y="48323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490" r="0" b="-75500"/>
              </a:stretch>
            </a:blipFill>
            <a:ln w="9532" cap="sq">
              <a:solidFill>
                <a:srgbClr val="3E2513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44610" y="945490"/>
            <a:ext cx="3136544" cy="22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576">
                <a:solidFill>
                  <a:srgbClr val="3E2513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1286466"/>
            <a:ext cx="9452677" cy="169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🚨</a:t>
            </a:r>
            <a:r>
              <a:rPr lang="en-US" sz="4953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 Reactive Grid Management &amp; Silent Equipment Failures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991" y="3317738"/>
            <a:ext cx="4613739" cy="3710359"/>
            <a:chOff x="0" y="0"/>
            <a:chExt cx="6151651" cy="49471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51626" cy="4947158"/>
            </a:xfrm>
            <a:custGeom>
              <a:avLst/>
              <a:gdLst/>
              <a:ahLst/>
              <a:cxnLst/>
              <a:rect r="r" b="b" t="t" l="l"/>
              <a:pathLst>
                <a:path h="4947158" w="6151626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6101080" y="0"/>
                  </a:lnTo>
                  <a:cubicBezTo>
                    <a:pt x="6129020" y="0"/>
                    <a:pt x="6151626" y="22606"/>
                    <a:pt x="6151626" y="50546"/>
                  </a:cubicBezTo>
                  <a:lnTo>
                    <a:pt x="6151626" y="4896612"/>
                  </a:lnTo>
                  <a:cubicBezTo>
                    <a:pt x="6151626" y="4924552"/>
                    <a:pt x="6129020" y="4947158"/>
                    <a:pt x="6101080" y="4947158"/>
                  </a:cubicBezTo>
                  <a:lnTo>
                    <a:pt x="50546" y="4947158"/>
                  </a:lnTo>
                  <a:cubicBezTo>
                    <a:pt x="22606" y="4947158"/>
                    <a:pt x="0" y="4924552"/>
                    <a:pt x="0" y="4896612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45594" y="3551301"/>
            <a:ext cx="4108533" cy="41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What Is the Problem?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5594" y="4042991"/>
            <a:ext cx="4108533" cy="273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High-voltage transformers fail silently due to undetected DGA gas anomalies — C₂H₂ (arcing), C₂H₄ (overheating), CH₄ (degradation) — causing regional blackouts and multi-million-dollar emergency replacements.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31776" y="3317738"/>
            <a:ext cx="4613891" cy="3710359"/>
            <a:chOff x="0" y="0"/>
            <a:chExt cx="6151855" cy="49471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51880" cy="4947158"/>
            </a:xfrm>
            <a:custGeom>
              <a:avLst/>
              <a:gdLst/>
              <a:ahLst/>
              <a:cxnLst/>
              <a:rect r="r" b="b" t="t" l="l"/>
              <a:pathLst>
                <a:path h="4947158" w="6151880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6101334" y="0"/>
                  </a:lnTo>
                  <a:cubicBezTo>
                    <a:pt x="6129274" y="0"/>
                    <a:pt x="6151880" y="22606"/>
                    <a:pt x="6151880" y="50546"/>
                  </a:cubicBezTo>
                  <a:lnTo>
                    <a:pt x="6151880" y="4896612"/>
                  </a:lnTo>
                  <a:cubicBezTo>
                    <a:pt x="6151880" y="4924552"/>
                    <a:pt x="6129274" y="4947158"/>
                    <a:pt x="6101334" y="4947158"/>
                  </a:cubicBezTo>
                  <a:lnTo>
                    <a:pt x="50546" y="4947158"/>
                  </a:lnTo>
                  <a:cubicBezTo>
                    <a:pt x="22606" y="4947158"/>
                    <a:pt x="0" y="4924552"/>
                    <a:pt x="0" y="4896612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084380" y="3551301"/>
            <a:ext cx="4108675" cy="41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Who Suffers?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84380" y="4042991"/>
            <a:ext cx="4108675" cy="1968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Grid dispatch engineers and SCADA operators at GETCO and PGCIL, alongside industrial and residential consumers facing sudden outages.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991" y="7253145"/>
            <a:ext cx="9452677" cy="2181587"/>
            <a:chOff x="0" y="0"/>
            <a:chExt cx="12603569" cy="29087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03607" cy="2908808"/>
            </a:xfrm>
            <a:custGeom>
              <a:avLst/>
              <a:gdLst/>
              <a:ahLst/>
              <a:cxnLst/>
              <a:rect r="r" b="b" t="t" l="l"/>
              <a:pathLst>
                <a:path h="2908808" w="12603607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2553061" y="0"/>
                  </a:lnTo>
                  <a:cubicBezTo>
                    <a:pt x="12581001" y="0"/>
                    <a:pt x="12603607" y="22606"/>
                    <a:pt x="12603607" y="50546"/>
                  </a:cubicBezTo>
                  <a:lnTo>
                    <a:pt x="12603607" y="2858262"/>
                  </a:lnTo>
                  <a:cubicBezTo>
                    <a:pt x="12603607" y="2886202"/>
                    <a:pt x="12581001" y="2908808"/>
                    <a:pt x="12553061" y="2908808"/>
                  </a:cubicBezTo>
                  <a:lnTo>
                    <a:pt x="50546" y="2908808"/>
                  </a:lnTo>
                  <a:cubicBezTo>
                    <a:pt x="22606" y="2908808"/>
                    <a:pt x="0" y="2886202"/>
                    <a:pt x="0" y="2858262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45594" y="7486707"/>
            <a:ext cx="8947471" cy="41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Why Now?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5594" y="7978407"/>
            <a:ext cx="8947471" cy="120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3+ hours wasted per incident manually correlating logs across 12+ disconnected SCADA tools. Renewable energy integration adds dynamic thermal strain on aging assets.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819045"/>
            <a:ext cx="928649" cy="269443"/>
            <a:chOff x="0" y="0"/>
            <a:chExt cx="1238199" cy="3592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8250" cy="359157"/>
            </a:xfrm>
            <a:custGeom>
              <a:avLst/>
              <a:gdLst/>
              <a:ahLst/>
              <a:cxnLst/>
              <a:rect r="r" b="b" t="t" l="l"/>
              <a:pathLst>
                <a:path h="359157" w="1238250">
                  <a:moveTo>
                    <a:pt x="0" y="28321"/>
                  </a:moveTo>
                  <a:cubicBezTo>
                    <a:pt x="0" y="12700"/>
                    <a:pt x="12700" y="0"/>
                    <a:pt x="28321" y="0"/>
                  </a:cubicBezTo>
                  <a:lnTo>
                    <a:pt x="1209802" y="0"/>
                  </a:lnTo>
                  <a:cubicBezTo>
                    <a:pt x="1225550" y="0"/>
                    <a:pt x="1238250" y="12700"/>
                    <a:pt x="1238250" y="28321"/>
                  </a:cubicBezTo>
                  <a:lnTo>
                    <a:pt x="1238250" y="330835"/>
                  </a:lnTo>
                  <a:cubicBezTo>
                    <a:pt x="1238250" y="346456"/>
                    <a:pt x="1225550" y="359156"/>
                    <a:pt x="1209929" y="359156"/>
                  </a:cubicBezTo>
                  <a:lnTo>
                    <a:pt x="28321" y="359156"/>
                  </a:lnTo>
                  <a:cubicBezTo>
                    <a:pt x="12700" y="359283"/>
                    <a:pt x="0" y="346583"/>
                    <a:pt x="0" y="330835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99328" y="872223"/>
            <a:ext cx="1631051" cy="163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0"/>
              </a:lnSpc>
            </a:pPr>
            <a:r>
              <a:rPr lang="en-US" sz="1050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094623"/>
            <a:ext cx="16315868" cy="63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45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💡</a:t>
            </a:r>
            <a:r>
              <a:rPr lang="en-US" sz="3452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 ThreatOps AI Grid Advisor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1872244"/>
            <a:ext cx="16315868" cy="480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5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An AI-powered decision-support platform that ingests multi-sensor telemetry, diagnoses transformer DGA chemistry, visualizes statewide grid health, and automates crew dispatch — before outages occur.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54233" y="2477100"/>
            <a:ext cx="15793231" cy="5926503"/>
            <a:chOff x="0" y="0"/>
            <a:chExt cx="21057641" cy="790200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1057615" cy="7901940"/>
            </a:xfrm>
            <a:custGeom>
              <a:avLst/>
              <a:gdLst/>
              <a:ahLst/>
              <a:cxnLst/>
              <a:rect r="r" b="b" t="t" l="l"/>
              <a:pathLst>
                <a:path h="7901940" w="21057615">
                  <a:moveTo>
                    <a:pt x="0" y="0"/>
                  </a:moveTo>
                  <a:lnTo>
                    <a:pt x="21057615" y="0"/>
                  </a:lnTo>
                  <a:lnTo>
                    <a:pt x="21057615" y="7901940"/>
                  </a:lnTo>
                  <a:lnTo>
                    <a:pt x="0" y="7901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0" b="-1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015018" y="6477419"/>
            <a:ext cx="2382098" cy="140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Automated Recommendation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12929" y="6706867"/>
            <a:ext cx="2382098" cy="94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SHAP Attribution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27146" y="6706867"/>
            <a:ext cx="2382098" cy="94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Statewide GIS Grid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41373" y="6706867"/>
            <a:ext cx="2382098" cy="94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XGBoost ML Engine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90334" y="6706867"/>
            <a:ext cx="2382098" cy="94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Multi-Sensor Telemetry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991" y="8528266"/>
            <a:ext cx="16315868" cy="947585"/>
            <a:chOff x="0" y="0"/>
            <a:chExt cx="21754490" cy="12634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54466" cy="1263396"/>
            </a:xfrm>
            <a:custGeom>
              <a:avLst/>
              <a:gdLst/>
              <a:ahLst/>
              <a:cxnLst/>
              <a:rect r="r" b="b" t="t" l="l"/>
              <a:pathLst>
                <a:path h="1263396" w="21754466">
                  <a:moveTo>
                    <a:pt x="0" y="35433"/>
                  </a:moveTo>
                  <a:cubicBezTo>
                    <a:pt x="0" y="15875"/>
                    <a:pt x="15875" y="0"/>
                    <a:pt x="35433" y="0"/>
                  </a:cubicBezTo>
                  <a:lnTo>
                    <a:pt x="21719032" y="0"/>
                  </a:lnTo>
                  <a:cubicBezTo>
                    <a:pt x="21738591" y="0"/>
                    <a:pt x="21754466" y="15875"/>
                    <a:pt x="21754466" y="35433"/>
                  </a:cubicBezTo>
                  <a:lnTo>
                    <a:pt x="21754466" y="1227963"/>
                  </a:lnTo>
                  <a:cubicBezTo>
                    <a:pt x="21754466" y="1247521"/>
                    <a:pt x="21738591" y="1263396"/>
                    <a:pt x="21719032" y="1263396"/>
                  </a:cubicBezTo>
                  <a:lnTo>
                    <a:pt x="35433" y="1263396"/>
                  </a:lnTo>
                  <a:cubicBezTo>
                    <a:pt x="15875" y="1263396"/>
                    <a:pt x="0" y="1247521"/>
                    <a:pt x="0" y="1227963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2991" y="8528266"/>
            <a:ext cx="5438575" cy="947585"/>
            <a:chOff x="0" y="0"/>
            <a:chExt cx="7251433" cy="12634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51446" cy="1263396"/>
            </a:xfrm>
            <a:custGeom>
              <a:avLst/>
              <a:gdLst/>
              <a:ahLst/>
              <a:cxnLst/>
              <a:rect r="r" b="b" t="t" l="l"/>
              <a:pathLst>
                <a:path h="1263396" w="7251446">
                  <a:moveTo>
                    <a:pt x="29591" y="0"/>
                  </a:moveTo>
                  <a:lnTo>
                    <a:pt x="7251446" y="0"/>
                  </a:lnTo>
                  <a:lnTo>
                    <a:pt x="7251446" y="1263396"/>
                  </a:lnTo>
                  <a:lnTo>
                    <a:pt x="29591" y="1263396"/>
                  </a:lnTo>
                  <a:cubicBezTo>
                    <a:pt x="13208" y="1263396"/>
                    <a:pt x="0" y="1250188"/>
                    <a:pt x="0" y="1233932"/>
                  </a:cubicBezTo>
                  <a:lnTo>
                    <a:pt x="0" y="29591"/>
                  </a:lnTo>
                  <a:cubicBezTo>
                    <a:pt x="0" y="13208"/>
                    <a:pt x="13208" y="0"/>
                    <a:pt x="29591" y="0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70232" y="8676932"/>
            <a:ext cx="5084093" cy="32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7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🎯</a:t>
            </a:r>
            <a:r>
              <a:rPr lang="en-US" sz="172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 96.25% Accuracy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0232" y="9048988"/>
            <a:ext cx="5084093" cy="24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5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Across 6 critical fault modes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431556" y="8528266"/>
            <a:ext cx="5438575" cy="947585"/>
            <a:chOff x="0" y="0"/>
            <a:chExt cx="7251433" cy="12634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51446" cy="1263396"/>
            </a:xfrm>
            <a:custGeom>
              <a:avLst/>
              <a:gdLst/>
              <a:ahLst/>
              <a:cxnLst/>
              <a:rect r="r" b="b" t="t" l="l"/>
              <a:pathLst>
                <a:path h="1263396" w="7251446">
                  <a:moveTo>
                    <a:pt x="0" y="0"/>
                  </a:moveTo>
                  <a:lnTo>
                    <a:pt x="7251446" y="0"/>
                  </a:lnTo>
                  <a:lnTo>
                    <a:pt x="7251446" y="1263396"/>
                  </a:lnTo>
                  <a:lnTo>
                    <a:pt x="0" y="1263396"/>
                  </a:ln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31556" y="8528266"/>
            <a:ext cx="19069" cy="947585"/>
            <a:chOff x="0" y="0"/>
            <a:chExt cx="25425" cy="12634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400" cy="1263396"/>
            </a:xfrm>
            <a:custGeom>
              <a:avLst/>
              <a:gdLst/>
              <a:ahLst/>
              <a:cxnLst/>
              <a:rect r="r" b="b" t="t" l="l"/>
              <a:pathLst>
                <a:path h="1263396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1250696"/>
                  </a:lnTo>
                  <a:cubicBezTo>
                    <a:pt x="25400" y="1257681"/>
                    <a:pt x="19685" y="1263396"/>
                    <a:pt x="12700" y="1263396"/>
                  </a:cubicBezTo>
                  <a:cubicBezTo>
                    <a:pt x="5715" y="1263396"/>
                    <a:pt x="0" y="1257681"/>
                    <a:pt x="0" y="1250696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6608797" y="8676932"/>
            <a:ext cx="5084093" cy="32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7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🗺️</a:t>
            </a:r>
            <a:r>
              <a:rPr lang="en-US" sz="172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 836+ Assets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08797" y="9048988"/>
            <a:ext cx="5084093" cy="24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5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33 Gujarat districts mapped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870131" y="8528266"/>
            <a:ext cx="5438575" cy="947585"/>
            <a:chOff x="0" y="0"/>
            <a:chExt cx="7251433" cy="12634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51447" cy="1263523"/>
            </a:xfrm>
            <a:custGeom>
              <a:avLst/>
              <a:gdLst/>
              <a:ahLst/>
              <a:cxnLst/>
              <a:rect r="r" b="b" t="t" l="l"/>
              <a:pathLst>
                <a:path h="1263523" w="7251447">
                  <a:moveTo>
                    <a:pt x="0" y="0"/>
                  </a:moveTo>
                  <a:lnTo>
                    <a:pt x="7221855" y="0"/>
                  </a:lnTo>
                  <a:cubicBezTo>
                    <a:pt x="7238238" y="0"/>
                    <a:pt x="7251447" y="13208"/>
                    <a:pt x="7251447" y="29591"/>
                  </a:cubicBezTo>
                  <a:lnTo>
                    <a:pt x="7251447" y="1233932"/>
                  </a:lnTo>
                  <a:cubicBezTo>
                    <a:pt x="7251447" y="1250315"/>
                    <a:pt x="7238238" y="1263523"/>
                    <a:pt x="7221855" y="1263523"/>
                  </a:cubicBezTo>
                  <a:lnTo>
                    <a:pt x="0" y="12633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870131" y="8528266"/>
            <a:ext cx="19069" cy="947585"/>
            <a:chOff x="0" y="0"/>
            <a:chExt cx="25425" cy="12634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400" cy="1263396"/>
            </a:xfrm>
            <a:custGeom>
              <a:avLst/>
              <a:gdLst/>
              <a:ahLst/>
              <a:cxnLst/>
              <a:rect r="r" b="b" t="t" l="l"/>
              <a:pathLst>
                <a:path h="1263396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1250696"/>
                  </a:lnTo>
                  <a:cubicBezTo>
                    <a:pt x="25400" y="1257681"/>
                    <a:pt x="19685" y="1263396"/>
                    <a:pt x="12700" y="1263396"/>
                  </a:cubicBezTo>
                  <a:cubicBezTo>
                    <a:pt x="5715" y="1263396"/>
                    <a:pt x="0" y="1257681"/>
                    <a:pt x="0" y="1250696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047372" y="8676932"/>
            <a:ext cx="5084093" cy="32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7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🧪</a:t>
            </a:r>
            <a:r>
              <a:rPr lang="en-US" sz="172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 AI Testing Studio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47372" y="9048988"/>
            <a:ext cx="5084093" cy="24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35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Real-time parameter simulation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8219" y="775554"/>
            <a:ext cx="1069838" cy="224904"/>
            <a:chOff x="0" y="0"/>
            <a:chExt cx="1426451" cy="2998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6464" cy="299974"/>
            </a:xfrm>
            <a:custGeom>
              <a:avLst/>
              <a:gdLst/>
              <a:ahLst/>
              <a:cxnLst/>
              <a:rect r="r" b="b" t="t" l="l"/>
              <a:pathLst>
                <a:path h="299974" w="1426464">
                  <a:moveTo>
                    <a:pt x="0" y="23749"/>
                  </a:moveTo>
                  <a:cubicBezTo>
                    <a:pt x="0" y="10668"/>
                    <a:pt x="10668" y="0"/>
                    <a:pt x="23749" y="0"/>
                  </a:cubicBezTo>
                  <a:lnTo>
                    <a:pt x="1402715" y="0"/>
                  </a:lnTo>
                  <a:cubicBezTo>
                    <a:pt x="1415796" y="0"/>
                    <a:pt x="1426464" y="10668"/>
                    <a:pt x="1426464" y="23749"/>
                  </a:cubicBezTo>
                  <a:lnTo>
                    <a:pt x="1426464" y="276225"/>
                  </a:lnTo>
                  <a:cubicBezTo>
                    <a:pt x="1426464" y="289306"/>
                    <a:pt x="1415796" y="299974"/>
                    <a:pt x="1402715" y="299974"/>
                  </a:cubicBezTo>
                  <a:lnTo>
                    <a:pt x="23749" y="299974"/>
                  </a:lnTo>
                  <a:cubicBezTo>
                    <a:pt x="10668" y="299847"/>
                    <a:pt x="0" y="289306"/>
                    <a:pt x="0" y="27622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73" r="0" b="-42639"/>
              </a:stretch>
            </a:blipFill>
            <a:ln w="9532" cap="sq">
              <a:solidFill>
                <a:srgbClr val="3E2513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78030" y="822770"/>
            <a:ext cx="1805311" cy="13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1"/>
              </a:lnSpc>
            </a:pPr>
            <a:r>
              <a:rPr lang="en-US" sz="825">
                <a:solidFill>
                  <a:srgbClr val="3E2513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995420"/>
            <a:ext cx="16315868" cy="50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🏗️</a:t>
            </a:r>
            <a:r>
              <a:rPr lang="en-US" sz="2777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 Technical Architecture &amp; System Flow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991" y="1681877"/>
            <a:ext cx="7984865" cy="7985065"/>
            <a:chOff x="0" y="0"/>
            <a:chExt cx="10646486" cy="106467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646537" cy="10646791"/>
            </a:xfrm>
            <a:custGeom>
              <a:avLst/>
              <a:gdLst/>
              <a:ahLst/>
              <a:cxnLst/>
              <a:rect r="r" b="b" t="t" l="l"/>
              <a:pathLst>
                <a:path h="10646791" w="10646537">
                  <a:moveTo>
                    <a:pt x="0" y="0"/>
                  </a:moveTo>
                  <a:lnTo>
                    <a:pt x="10646537" y="0"/>
                  </a:lnTo>
                  <a:lnTo>
                    <a:pt x="10646537" y="10646791"/>
                  </a:lnTo>
                  <a:lnTo>
                    <a:pt x="0" y="10646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333519" y="4786198"/>
            <a:ext cx="7984865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Full-Stack Tech Stack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9333522" y="5106562"/>
          <a:ext cx="7969126" cy="1334543"/>
        </p:xfrm>
        <a:graphic>
          <a:graphicData uri="http://schemas.openxmlformats.org/drawingml/2006/table">
            <a:tbl>
              <a:tblPr/>
              <a:tblGrid>
                <a:gridCol w="3195189"/>
                <a:gridCol w="4773937"/>
              </a:tblGrid>
              <a:tr h="2645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504C49"/>
                          </a:solidFill>
                          <a:latin typeface="Source Serif Pro Bold"/>
                          <a:ea typeface="Source Serif Pro Bold"/>
                          <a:cs typeface="Source Serif Pro Bold"/>
                          <a:sym typeface="Source Serif Pro Bold"/>
                        </a:rPr>
                        <a:t>Frontend UI</a:t>
                      </a:r>
                      <a:endParaRPr lang="en-US" sz="1100"/>
                    </a:p>
                  </a:txBody>
                  <a:tcPr marL="94509" marR="94509" marT="94509" marB="94509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Next.js 16, React, Tailwind CSS</a:t>
                      </a:r>
                      <a:endParaRPr lang="en-US" sz="1100"/>
                    </a:p>
                  </a:txBody>
                  <a:tcPr marL="94509" marR="94509" marT="94509" marB="94509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4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504C49"/>
                          </a:solidFill>
                          <a:latin typeface="Source Serif Pro Bold"/>
                          <a:ea typeface="Source Serif Pro Bold"/>
                          <a:cs typeface="Source Serif Pro Bold"/>
                          <a:sym typeface="Source Serif Pro Bold"/>
                        </a:rPr>
                        <a:t>GIS Mapping</a:t>
                      </a:r>
                      <a:endParaRPr lang="en-US" sz="1100"/>
                    </a:p>
                  </a:txBody>
                  <a:tcPr marL="94509" marR="94509" marT="94509" marB="94509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Leaflet.js, MapTiler Engine</a:t>
                      </a:r>
                      <a:endParaRPr lang="en-US" sz="1100"/>
                    </a:p>
                  </a:txBody>
                  <a:tcPr marL="94509" marR="94509" marT="94509" marB="94509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4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504C49"/>
                          </a:solidFill>
                          <a:latin typeface="Source Serif Pro Bold"/>
                          <a:ea typeface="Source Serif Pro Bold"/>
                          <a:cs typeface="Source Serif Pro Bold"/>
                          <a:sym typeface="Source Serif Pro Bold"/>
                        </a:rPr>
                        <a:t>API Server</a:t>
                      </a:r>
                      <a:endParaRPr lang="en-US" sz="1100"/>
                    </a:p>
                  </a:txBody>
                  <a:tcPr marL="94509" marR="94509" marT="94509" marB="94509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Python 3.10+, FastAPI, Uvicorn</a:t>
                      </a:r>
                      <a:endParaRPr lang="en-US" sz="1100"/>
                    </a:p>
                  </a:txBody>
                  <a:tcPr marL="94509" marR="94509" marT="94509" marB="94509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4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504C49"/>
                          </a:solidFill>
                          <a:latin typeface="Source Serif Pro Bold"/>
                          <a:ea typeface="Source Serif Pro Bold"/>
                          <a:cs typeface="Source Serif Pro Bold"/>
                          <a:sym typeface="Source Serif Pro Bold"/>
                        </a:rPr>
                        <a:t>ML Engine</a:t>
                      </a:r>
                      <a:endParaRPr lang="en-US" sz="1100"/>
                    </a:p>
                  </a:txBody>
                  <a:tcPr marL="94509" marR="94509" marT="94509" marB="94509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XGBoost, scikit-learn, SHAP, joblib</a:t>
                      </a:r>
                      <a:endParaRPr lang="en-US" sz="1100"/>
                    </a:p>
                  </a:txBody>
                  <a:tcPr marL="94509" marR="94509" marT="94509" marB="94509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5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504C49"/>
                          </a:solidFill>
                          <a:latin typeface="Source Serif Pro Bold"/>
                          <a:ea typeface="Source Serif Pro Bold"/>
                          <a:cs typeface="Source Serif Pro Bold"/>
                          <a:sym typeface="Source Serif Pro Bold"/>
                        </a:rPr>
                        <a:t>Database</a:t>
                      </a:r>
                      <a:endParaRPr lang="en-US" sz="1100"/>
                    </a:p>
                  </a:txBody>
                  <a:tcPr marL="94509" marR="94509" marT="94509" marB="94509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441"/>
                        </a:lnSpc>
                        <a:defRPr/>
                      </a:pPr>
                      <a:r>
                        <a:rPr lang="en-US" sz="1200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Neon Serverless PostgreSQL</a:t>
                      </a:r>
                      <a:endParaRPr lang="en-US" sz="1100"/>
                    </a:p>
                  </a:txBody>
                  <a:tcPr marL="94509" marR="94509" marT="94509" marB="94509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821284"/>
            <a:ext cx="653701" cy="276139"/>
            <a:chOff x="0" y="0"/>
            <a:chExt cx="871601" cy="3681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1601" cy="368173"/>
            </a:xfrm>
            <a:custGeom>
              <a:avLst/>
              <a:gdLst/>
              <a:ahLst/>
              <a:cxnLst/>
              <a:rect r="r" b="b" t="t" l="l"/>
              <a:pathLst>
                <a:path h="368173" w="871601">
                  <a:moveTo>
                    <a:pt x="0" y="29083"/>
                  </a:moveTo>
                  <a:cubicBezTo>
                    <a:pt x="0" y="13081"/>
                    <a:pt x="13081" y="0"/>
                    <a:pt x="29083" y="0"/>
                  </a:cubicBezTo>
                  <a:lnTo>
                    <a:pt x="842518" y="0"/>
                  </a:lnTo>
                  <a:cubicBezTo>
                    <a:pt x="858520" y="0"/>
                    <a:pt x="871601" y="13081"/>
                    <a:pt x="871601" y="29083"/>
                  </a:cubicBezTo>
                  <a:lnTo>
                    <a:pt x="871601" y="339090"/>
                  </a:lnTo>
                  <a:cubicBezTo>
                    <a:pt x="871601" y="355092"/>
                    <a:pt x="858520" y="368173"/>
                    <a:pt x="842518" y="368173"/>
                  </a:cubicBezTo>
                  <a:lnTo>
                    <a:pt x="29083" y="368173"/>
                  </a:lnTo>
                  <a:cubicBezTo>
                    <a:pt x="13081" y="368173"/>
                    <a:pt x="0" y="355219"/>
                    <a:pt x="0" y="339090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02014" y="885320"/>
            <a:ext cx="1350740" cy="15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"/>
              </a:lnSpc>
            </a:pPr>
            <a:r>
              <a:rPr lang="en-US" sz="1125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DEMO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096270"/>
            <a:ext cx="16315868" cy="663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2"/>
              </a:lnSpc>
            </a:pPr>
            <a:r>
              <a:rPr lang="en-US" sz="352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🔬</a:t>
            </a:r>
            <a:r>
              <a:rPr lang="en-US" sz="3527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 Station-Level DGA Inspector &amp; AI Studio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1914992"/>
            <a:ext cx="16315868" cy="495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5"/>
              </a:lnSpc>
            </a:pPr>
            <a:r>
              <a:rPr lang="en-US" sz="142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Live inspection of Acetylene (C₂H₂), Ethylene (C₂H₄), Methane (CH₄), Hydrogen (H₂), Oil Temperature, and Winding Vibration — with IEC 60599 color-coded risk badges (Normal, Warning, Critical).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806941" y="2541889"/>
            <a:ext cx="12687967" cy="5807050"/>
            <a:chOff x="0" y="0"/>
            <a:chExt cx="16917289" cy="7742733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6917288" cy="7742682"/>
            </a:xfrm>
            <a:custGeom>
              <a:avLst/>
              <a:gdLst/>
              <a:ahLst/>
              <a:cxnLst/>
              <a:rect r="r" b="b" t="t" l="l"/>
              <a:pathLst>
                <a:path h="7742682" w="16917288">
                  <a:moveTo>
                    <a:pt x="0" y="0"/>
                  </a:moveTo>
                  <a:lnTo>
                    <a:pt x="16917288" y="0"/>
                  </a:lnTo>
                  <a:lnTo>
                    <a:pt x="16917288" y="7742682"/>
                  </a:lnTo>
                  <a:lnTo>
                    <a:pt x="0" y="7742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522194" y="6711925"/>
            <a:ext cx="2382088" cy="94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Dispatch Crew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0114" y="6711925"/>
            <a:ext cx="2382088" cy="94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Run XGBoost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34350" y="6941372"/>
            <a:ext cx="2382088" cy="48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Inspect DGA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83321" y="6941372"/>
            <a:ext cx="2382088" cy="48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</a:pPr>
            <a:r>
              <a:rPr lang="en-US" sz="2852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Search Asset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92991" y="8479860"/>
            <a:ext cx="8099698" cy="993905"/>
          </a:xfrm>
          <a:custGeom>
            <a:avLst/>
            <a:gdLst/>
            <a:ahLst/>
            <a:cxnLst/>
            <a:rect r="r" b="b" t="t" l="l"/>
            <a:pathLst>
              <a:path h="993905" w="8099698">
                <a:moveTo>
                  <a:pt x="0" y="0"/>
                </a:moveTo>
                <a:lnTo>
                  <a:pt x="8099698" y="0"/>
                </a:lnTo>
                <a:lnTo>
                  <a:pt x="8099698" y="993905"/>
                </a:lnTo>
                <a:lnTo>
                  <a:pt x="0" y="9939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54" r="0" b="-754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70016" y="8652062"/>
            <a:ext cx="7621895" cy="312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72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IEC 60599 Compliance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0016" y="9015479"/>
            <a:ext cx="7621895" cy="25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5"/>
              </a:lnSpc>
            </a:pPr>
            <a:r>
              <a:rPr lang="en-US" sz="142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Automated risk status badges per gas level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209008" y="8479860"/>
            <a:ext cx="8099841" cy="993905"/>
          </a:xfrm>
          <a:custGeom>
            <a:avLst/>
            <a:gdLst/>
            <a:ahLst/>
            <a:cxnLst/>
            <a:rect r="r" b="b" t="t" l="l"/>
            <a:pathLst>
              <a:path h="993905" w="8099841">
                <a:moveTo>
                  <a:pt x="0" y="0"/>
                </a:moveTo>
                <a:lnTo>
                  <a:pt x="8099841" y="0"/>
                </a:lnTo>
                <a:lnTo>
                  <a:pt x="8099841" y="993905"/>
                </a:lnTo>
                <a:lnTo>
                  <a:pt x="0" y="9939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55" r="0" b="-754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486033" y="8652062"/>
            <a:ext cx="7622048" cy="312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72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District Weather Threat Radar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86033" y="9015479"/>
            <a:ext cx="7622048" cy="25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5"/>
              </a:lnSpc>
            </a:pPr>
            <a:r>
              <a:rPr lang="en-US" sz="142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30-day historical trends + 7-day predictive forecast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8649" y="0"/>
            <a:ext cx="6863191" cy="10287000"/>
            <a:chOff x="0" y="0"/>
            <a:chExt cx="9150922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15949"/>
            </a:xfrm>
            <a:custGeom>
              <a:avLst/>
              <a:gdLst/>
              <a:ahLst/>
              <a:cxnLst/>
              <a:rect r="r" b="b" t="t" l="l"/>
              <a:pathLst>
                <a:path h="13715949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15949"/>
                  </a:lnTo>
                  <a:lnTo>
                    <a:pt x="0" y="13715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" r="0" b="-3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8219" y="845858"/>
            <a:ext cx="2042274" cy="373256"/>
            <a:chOff x="0" y="0"/>
            <a:chExt cx="2723032" cy="4976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23134" cy="497840"/>
            </a:xfrm>
            <a:custGeom>
              <a:avLst/>
              <a:gdLst/>
              <a:ahLst/>
              <a:cxnLst/>
              <a:rect r="r" b="b" t="t" l="l"/>
              <a:pathLst>
                <a:path h="497840" w="2723134">
                  <a:moveTo>
                    <a:pt x="0" y="39370"/>
                  </a:moveTo>
                  <a:cubicBezTo>
                    <a:pt x="0" y="17653"/>
                    <a:pt x="17653" y="0"/>
                    <a:pt x="39370" y="0"/>
                  </a:cubicBezTo>
                  <a:lnTo>
                    <a:pt x="2683764" y="0"/>
                  </a:lnTo>
                  <a:cubicBezTo>
                    <a:pt x="2705481" y="0"/>
                    <a:pt x="2723134" y="17653"/>
                    <a:pt x="2723134" y="39370"/>
                  </a:cubicBezTo>
                  <a:lnTo>
                    <a:pt x="2723134" y="458470"/>
                  </a:lnTo>
                  <a:cubicBezTo>
                    <a:pt x="2723134" y="480187"/>
                    <a:pt x="2705481" y="497840"/>
                    <a:pt x="2683764" y="497840"/>
                  </a:cubicBezTo>
                  <a:lnTo>
                    <a:pt x="39370" y="497840"/>
                  </a:lnTo>
                  <a:cubicBezTo>
                    <a:pt x="17653" y="497840"/>
                    <a:pt x="0" y="480187"/>
                    <a:pt x="0" y="45847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593" r="3" b="-56560"/>
              </a:stretch>
            </a:blipFill>
            <a:ln w="9532" cap="sq">
              <a:solidFill>
                <a:srgbClr val="3E2513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36571" y="931936"/>
            <a:ext cx="2660675" cy="210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501">
                <a:solidFill>
                  <a:srgbClr val="3E2513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IBM INTEGRATION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1247451"/>
            <a:ext cx="9452677" cy="852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7"/>
              </a:lnSpc>
            </a:pPr>
            <a:r>
              <a:rPr lang="en-US" sz="465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⚙️</a:t>
            </a:r>
            <a:r>
              <a:rPr lang="en-US" sz="4653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 IBM Technology Integration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2355742"/>
            <a:ext cx="9452677" cy="75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ThreatOps natively integrates IBM's enterprise AI and observability stack for intelligent grid management.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991" y="3336503"/>
            <a:ext cx="4625359" cy="3305975"/>
            <a:chOff x="0" y="0"/>
            <a:chExt cx="6167145" cy="44079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67120" cy="4407916"/>
            </a:xfrm>
            <a:custGeom>
              <a:avLst/>
              <a:gdLst/>
              <a:ahLst/>
              <a:cxnLst/>
              <a:rect r="r" b="b" t="t" l="l"/>
              <a:pathLst>
                <a:path h="4407916" w="6167120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6119241" y="0"/>
                  </a:lnTo>
                  <a:cubicBezTo>
                    <a:pt x="6145657" y="0"/>
                    <a:pt x="6167120" y="21463"/>
                    <a:pt x="6167120" y="47879"/>
                  </a:cubicBezTo>
                  <a:lnTo>
                    <a:pt x="6167120" y="4360037"/>
                  </a:lnTo>
                  <a:cubicBezTo>
                    <a:pt x="6167120" y="4386453"/>
                    <a:pt x="6145657" y="4407916"/>
                    <a:pt x="6119241" y="4407916"/>
                  </a:cubicBezTo>
                  <a:lnTo>
                    <a:pt x="47879" y="4407916"/>
                  </a:lnTo>
                  <a:cubicBezTo>
                    <a:pt x="21463" y="4407916"/>
                    <a:pt x="0" y="4386453"/>
                    <a:pt x="0" y="4360037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2335" y="3575856"/>
            <a:ext cx="718195" cy="718214"/>
            <a:chOff x="0" y="0"/>
            <a:chExt cx="957593" cy="9576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7580" cy="957580"/>
            </a:xfrm>
            <a:custGeom>
              <a:avLst/>
              <a:gdLst/>
              <a:ahLst/>
              <a:cxnLst/>
              <a:rect r="r" b="b" t="t" l="l"/>
              <a:pathLst>
                <a:path h="957580" w="957580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cubicBezTo>
                    <a:pt x="743204" y="0"/>
                    <a:pt x="957580" y="214376"/>
                    <a:pt x="957580" y="478790"/>
                  </a:cubicBezTo>
                  <a:cubicBezTo>
                    <a:pt x="957580" y="743204"/>
                    <a:pt x="743204" y="957580"/>
                    <a:pt x="478790" y="957580"/>
                  </a:cubicBezTo>
                  <a:cubicBezTo>
                    <a:pt x="214376" y="957580"/>
                    <a:pt x="0" y="743204"/>
                    <a:pt x="0" y="478790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17" id="17" descr="preencoded.png"/>
          <p:cNvSpPr/>
          <p:nvPr/>
        </p:nvSpPr>
        <p:spPr>
          <a:xfrm flipH="false" flipV="false" rot="0">
            <a:off x="1429826" y="3773357"/>
            <a:ext cx="323202" cy="323212"/>
          </a:xfrm>
          <a:custGeom>
            <a:avLst/>
            <a:gdLst/>
            <a:ahLst/>
            <a:cxnLst/>
            <a:rect r="r" b="b" t="t" l="l"/>
            <a:pathLst>
              <a:path h="323212" w="323202">
                <a:moveTo>
                  <a:pt x="0" y="0"/>
                </a:moveTo>
                <a:lnTo>
                  <a:pt x="323203" y="0"/>
                </a:lnTo>
                <a:lnTo>
                  <a:pt x="323203" y="323212"/>
                </a:lnTo>
                <a:lnTo>
                  <a:pt x="0" y="323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355" t="0" r="-7352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32335" y="4467463"/>
            <a:ext cx="4146661" cy="4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IBM Bob AI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2335" y="4943504"/>
            <a:ext cx="4146661" cy="1459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Natural language incident summaries for DGA anomalies and one-click runbook execution for emergency feeder switching.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820308" y="3336503"/>
            <a:ext cx="4625359" cy="3305975"/>
            <a:chOff x="0" y="0"/>
            <a:chExt cx="6167145" cy="44079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67120" cy="4407916"/>
            </a:xfrm>
            <a:custGeom>
              <a:avLst/>
              <a:gdLst/>
              <a:ahLst/>
              <a:cxnLst/>
              <a:rect r="r" b="b" t="t" l="l"/>
              <a:pathLst>
                <a:path h="4407916" w="6167120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6119241" y="0"/>
                  </a:lnTo>
                  <a:cubicBezTo>
                    <a:pt x="6145657" y="0"/>
                    <a:pt x="6167120" y="21463"/>
                    <a:pt x="6167120" y="47879"/>
                  </a:cubicBezTo>
                  <a:lnTo>
                    <a:pt x="6167120" y="4360037"/>
                  </a:lnTo>
                  <a:cubicBezTo>
                    <a:pt x="6167120" y="4386453"/>
                    <a:pt x="6145657" y="4407916"/>
                    <a:pt x="6119241" y="4407916"/>
                  </a:cubicBezTo>
                  <a:lnTo>
                    <a:pt x="47879" y="4407916"/>
                  </a:lnTo>
                  <a:cubicBezTo>
                    <a:pt x="21463" y="4407916"/>
                    <a:pt x="0" y="4386453"/>
                    <a:pt x="0" y="4360037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059653" y="3575856"/>
            <a:ext cx="718195" cy="718214"/>
            <a:chOff x="0" y="0"/>
            <a:chExt cx="957593" cy="9576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7580" cy="957580"/>
            </a:xfrm>
            <a:custGeom>
              <a:avLst/>
              <a:gdLst/>
              <a:ahLst/>
              <a:cxnLst/>
              <a:rect r="r" b="b" t="t" l="l"/>
              <a:pathLst>
                <a:path h="957580" w="957580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cubicBezTo>
                    <a:pt x="743204" y="0"/>
                    <a:pt x="957580" y="214376"/>
                    <a:pt x="957580" y="478790"/>
                  </a:cubicBezTo>
                  <a:cubicBezTo>
                    <a:pt x="957580" y="743204"/>
                    <a:pt x="743204" y="957580"/>
                    <a:pt x="478790" y="957580"/>
                  </a:cubicBezTo>
                  <a:cubicBezTo>
                    <a:pt x="214376" y="957580"/>
                    <a:pt x="0" y="743204"/>
                    <a:pt x="0" y="478790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6257153" y="3773357"/>
            <a:ext cx="323202" cy="323212"/>
          </a:xfrm>
          <a:custGeom>
            <a:avLst/>
            <a:gdLst/>
            <a:ahLst/>
            <a:cxnLst/>
            <a:rect r="r" b="b" t="t" l="l"/>
            <a:pathLst>
              <a:path h="323212" w="323202">
                <a:moveTo>
                  <a:pt x="0" y="0"/>
                </a:moveTo>
                <a:lnTo>
                  <a:pt x="323203" y="0"/>
                </a:lnTo>
                <a:lnTo>
                  <a:pt x="323203" y="323212"/>
                </a:lnTo>
                <a:lnTo>
                  <a:pt x="0" y="3232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414" t="0" r="-4411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059653" y="4467463"/>
            <a:ext cx="4146661" cy="4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watsonx.ai — Granite 3.0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59653" y="4943504"/>
            <a:ext cx="4146661" cy="1459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Root-cause classification across multi-sensor telemetry. Evaluates thermal, electrical, and gas ratios for operator action guidance.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92991" y="6844446"/>
            <a:ext cx="9452677" cy="2599973"/>
            <a:chOff x="0" y="0"/>
            <a:chExt cx="12603569" cy="34666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603607" cy="3466592"/>
            </a:xfrm>
            <a:custGeom>
              <a:avLst/>
              <a:gdLst/>
              <a:ahLst/>
              <a:cxnLst/>
              <a:rect r="r" b="b" t="t" l="l"/>
              <a:pathLst>
                <a:path h="3466592" w="12603607">
                  <a:moveTo>
                    <a:pt x="0" y="47879"/>
                  </a:moveTo>
                  <a:cubicBezTo>
                    <a:pt x="0" y="21463"/>
                    <a:pt x="21463" y="0"/>
                    <a:pt x="47879" y="0"/>
                  </a:cubicBezTo>
                  <a:lnTo>
                    <a:pt x="12555728" y="0"/>
                  </a:lnTo>
                  <a:cubicBezTo>
                    <a:pt x="12582144" y="0"/>
                    <a:pt x="12603607" y="21463"/>
                    <a:pt x="12603607" y="47879"/>
                  </a:cubicBezTo>
                  <a:lnTo>
                    <a:pt x="12603607" y="3418713"/>
                  </a:lnTo>
                  <a:cubicBezTo>
                    <a:pt x="12603607" y="3445129"/>
                    <a:pt x="12582144" y="3466592"/>
                    <a:pt x="12555728" y="3466592"/>
                  </a:cubicBezTo>
                  <a:lnTo>
                    <a:pt x="47879" y="3466592"/>
                  </a:lnTo>
                  <a:cubicBezTo>
                    <a:pt x="21463" y="3466592"/>
                    <a:pt x="0" y="3445129"/>
                    <a:pt x="0" y="3418713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32335" y="7083800"/>
            <a:ext cx="718195" cy="718214"/>
            <a:chOff x="0" y="0"/>
            <a:chExt cx="957593" cy="9576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7580" cy="957580"/>
            </a:xfrm>
            <a:custGeom>
              <a:avLst/>
              <a:gdLst/>
              <a:ahLst/>
              <a:cxnLst/>
              <a:rect r="r" b="b" t="t" l="l"/>
              <a:pathLst>
                <a:path h="957580" w="957580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cubicBezTo>
                    <a:pt x="743204" y="0"/>
                    <a:pt x="957580" y="214376"/>
                    <a:pt x="957580" y="478790"/>
                  </a:cubicBezTo>
                  <a:cubicBezTo>
                    <a:pt x="957580" y="743204"/>
                    <a:pt x="743204" y="957580"/>
                    <a:pt x="478790" y="957580"/>
                  </a:cubicBezTo>
                  <a:cubicBezTo>
                    <a:pt x="214376" y="957580"/>
                    <a:pt x="0" y="743204"/>
                    <a:pt x="0" y="478790"/>
                  </a:cubicBezTo>
                  <a:close/>
                </a:path>
              </a:pathLst>
            </a:custGeom>
            <a:solidFill>
              <a:srgbClr val="3E2513"/>
            </a:solidFill>
          </p:spPr>
        </p:sp>
      </p:grpSp>
      <p:sp>
        <p:nvSpPr>
          <p:cNvPr name="Freeform 31" id="31" descr="preencoded.png"/>
          <p:cNvSpPr/>
          <p:nvPr/>
        </p:nvSpPr>
        <p:spPr>
          <a:xfrm flipH="false" flipV="false" rot="0">
            <a:off x="1429826" y="7281301"/>
            <a:ext cx="323202" cy="323212"/>
          </a:xfrm>
          <a:custGeom>
            <a:avLst/>
            <a:gdLst/>
            <a:ahLst/>
            <a:cxnLst/>
            <a:rect r="r" b="b" t="t" l="l"/>
            <a:pathLst>
              <a:path h="323212" w="323202">
                <a:moveTo>
                  <a:pt x="0" y="0"/>
                </a:moveTo>
                <a:lnTo>
                  <a:pt x="323203" y="0"/>
                </a:lnTo>
                <a:lnTo>
                  <a:pt x="323203" y="323211"/>
                </a:lnTo>
                <a:lnTo>
                  <a:pt x="0" y="3232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470" t="0" r="-1473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32335" y="7975406"/>
            <a:ext cx="8973979" cy="4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IBM Instana SCADA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2335" y="8451447"/>
            <a:ext cx="8973979" cy="75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Real-time sensor telemetry ingestion (temperatures, gas ppm, load %, vibration) from high-voltage GETCO substations.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885473"/>
            <a:ext cx="1087117" cy="357016"/>
            <a:chOff x="0" y="0"/>
            <a:chExt cx="1449489" cy="4760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9451" cy="475996"/>
            </a:xfrm>
            <a:custGeom>
              <a:avLst/>
              <a:gdLst/>
              <a:ahLst/>
              <a:cxnLst/>
              <a:rect r="r" b="b" t="t" l="l"/>
              <a:pathLst>
                <a:path h="475996" w="1449451">
                  <a:moveTo>
                    <a:pt x="0" y="37592"/>
                  </a:moveTo>
                  <a:cubicBezTo>
                    <a:pt x="0" y="16891"/>
                    <a:pt x="16891" y="0"/>
                    <a:pt x="37592" y="0"/>
                  </a:cubicBezTo>
                  <a:lnTo>
                    <a:pt x="1411859" y="0"/>
                  </a:lnTo>
                  <a:cubicBezTo>
                    <a:pt x="1432560" y="0"/>
                    <a:pt x="1449451" y="16891"/>
                    <a:pt x="1449451" y="37592"/>
                  </a:cubicBezTo>
                  <a:lnTo>
                    <a:pt x="1449451" y="438404"/>
                  </a:lnTo>
                  <a:cubicBezTo>
                    <a:pt x="1449451" y="459105"/>
                    <a:pt x="1432560" y="475996"/>
                    <a:pt x="1411859" y="475996"/>
                  </a:cubicBezTo>
                  <a:lnTo>
                    <a:pt x="37592" y="475996"/>
                  </a:lnTo>
                  <a:cubicBezTo>
                    <a:pt x="16891" y="475996"/>
                    <a:pt x="0" y="459232"/>
                    <a:pt x="0" y="438404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33885" y="955929"/>
            <a:ext cx="1720415" cy="21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2"/>
              </a:lnSpc>
            </a:pPr>
            <a:r>
              <a:rPr lang="en-US" sz="142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272616"/>
            <a:ext cx="16315868" cy="83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4"/>
              </a:lnSpc>
            </a:pPr>
            <a:r>
              <a:rPr lang="en-US" sz="457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📈</a:t>
            </a:r>
            <a:r>
              <a:rPr lang="en-US" sz="4578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 Quantitative Impact &amp; Success Metrics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2616136"/>
            <a:ext cx="8036252" cy="680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5"/>
              </a:lnSpc>
            </a:pPr>
            <a:r>
              <a:rPr lang="en-US" sz="6079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96.25%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3530898"/>
            <a:ext cx="8036252" cy="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251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Model Accuracy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3995623"/>
            <a:ext cx="8036252" cy="39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7"/>
              </a:lnSpc>
            </a:pPr>
            <a:r>
              <a:rPr lang="en-US" sz="18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XGBoost multi-class fault classification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72454" y="2616136"/>
            <a:ext cx="8036395" cy="680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5"/>
              </a:lnSpc>
            </a:pPr>
            <a:r>
              <a:rPr lang="en-US" sz="6079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836+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72454" y="3530898"/>
            <a:ext cx="8036395" cy="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251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Grid Assets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72454" y="3995623"/>
            <a:ext cx="8036395" cy="39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7"/>
              </a:lnSpc>
            </a:pPr>
            <a:r>
              <a:rPr lang="en-US" sz="18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Gujarat assets mapped and monitored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991" y="4988671"/>
            <a:ext cx="8036252" cy="680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5"/>
              </a:lnSpc>
            </a:pPr>
            <a:r>
              <a:rPr lang="en-US" sz="6079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75%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991" y="5903433"/>
            <a:ext cx="8036252" cy="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251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MTTR Reduction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991" y="6368158"/>
            <a:ext cx="8036252" cy="39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7"/>
              </a:lnSpc>
            </a:pPr>
            <a:r>
              <a:rPr lang="en-US" sz="18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Mean time to repair reduced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72454" y="4988671"/>
            <a:ext cx="8036395" cy="680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5"/>
              </a:lnSpc>
            </a:pPr>
            <a:r>
              <a:rPr lang="en-US" sz="6079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$10M+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72454" y="5903433"/>
            <a:ext cx="8036395" cy="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251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Annual Savings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72454" y="6368158"/>
            <a:ext cx="8036395" cy="39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7"/>
              </a:lnSpc>
            </a:pPr>
            <a:r>
              <a:rPr lang="en-US" sz="18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Cost avoidance through preventive maintenance</a:t>
            </a:r>
          </a:p>
        </p:txBody>
      </p: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992988" y="6978199"/>
          <a:ext cx="16243290" cy="2364047"/>
        </p:xfrm>
        <a:graphic>
          <a:graphicData uri="http://schemas.openxmlformats.org/drawingml/2006/table">
            <a:tbl>
              <a:tblPr/>
              <a:tblGrid>
                <a:gridCol w="4060823"/>
                <a:gridCol w="4060823"/>
                <a:gridCol w="4060823"/>
                <a:gridCol w="4060823"/>
              </a:tblGrid>
              <a:tr h="5888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504C49"/>
                          </a:solidFill>
                          <a:latin typeface="Source Serif Pro Bold"/>
                          <a:ea typeface="Source Serif Pro Bold"/>
                          <a:cs typeface="Source Serif Pro Bold"/>
                          <a:sym typeface="Source Serif Pro Bold"/>
                        </a:rPr>
                        <a:t>Metric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504C49"/>
                          </a:solidFill>
                          <a:latin typeface="Source Serif Pro Bold"/>
                          <a:ea typeface="Source Serif Pro Bold"/>
                          <a:cs typeface="Source Serif Pro Bold"/>
                          <a:sym typeface="Source Serif Pro Bold"/>
                        </a:rPr>
                        <a:t>Baseline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504C49"/>
                          </a:solidFill>
                          <a:latin typeface="Source Serif Pro Bold"/>
                          <a:ea typeface="Source Serif Pro Bold"/>
                          <a:cs typeface="Source Serif Pro Bold"/>
                          <a:sym typeface="Source Serif Pro Bold"/>
                        </a:rPr>
                        <a:t>ThreatOps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504C49"/>
                          </a:solidFill>
                          <a:latin typeface="Source Serif Pro Bold"/>
                          <a:ea typeface="Source Serif Pro Bold"/>
                          <a:cs typeface="Source Serif Pro Bold"/>
                          <a:sym typeface="Source Serif Pro Bold"/>
                        </a:rPr>
                        <a:t>Benefit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32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Incident Diagnosis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3+ Hours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&lt; 15 Seconds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95% Faster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32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Grid Coverage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Sampled manual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836 Assets, 33 Districts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100% Visibility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88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Crew Dispatch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Reactive (post-outage)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Proactive (pre-positioning)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504C49"/>
                          </a:solidFill>
                          <a:latin typeface="Source Serif Pro"/>
                          <a:ea typeface="Source Serif Pro"/>
                          <a:cs typeface="Source Serif Pro"/>
                          <a:sym typeface="Source Serif Pro"/>
                        </a:rPr>
                        <a:t>Zero emergency delay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1410" y="858965"/>
            <a:ext cx="713727" cy="312487"/>
            <a:chOff x="0" y="0"/>
            <a:chExt cx="951636" cy="4166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1611" cy="416561"/>
            </a:xfrm>
            <a:custGeom>
              <a:avLst/>
              <a:gdLst/>
              <a:ahLst/>
              <a:cxnLst/>
              <a:rect r="r" b="b" t="t" l="l"/>
              <a:pathLst>
                <a:path h="416561" w="951611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918718" y="0"/>
                  </a:lnTo>
                  <a:cubicBezTo>
                    <a:pt x="936879" y="0"/>
                    <a:pt x="951611" y="14732"/>
                    <a:pt x="951611" y="32893"/>
                  </a:cubicBezTo>
                  <a:lnTo>
                    <a:pt x="951611" y="383667"/>
                  </a:lnTo>
                  <a:cubicBezTo>
                    <a:pt x="951611" y="401828"/>
                    <a:pt x="936879" y="416560"/>
                    <a:pt x="918718" y="416560"/>
                  </a:cubicBezTo>
                  <a:lnTo>
                    <a:pt x="32893" y="416560"/>
                  </a:lnTo>
                  <a:cubicBezTo>
                    <a:pt x="14732" y="416687"/>
                    <a:pt x="0" y="401955"/>
                    <a:pt x="0" y="383667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74" t="0" r="-6177" b="-21"/>
              </a:stretch>
            </a:blipFill>
            <a:ln w="9532" cap="sq">
              <a:solidFill>
                <a:srgbClr val="3E2513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7975778" y="932983"/>
            <a:ext cx="1380087" cy="17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200">
                <a:solidFill>
                  <a:srgbClr val="3E2513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TEAM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6182" y="1184586"/>
            <a:ext cx="9452677" cy="133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👥</a:t>
            </a:r>
            <a:r>
              <a:rPr lang="en-US" sz="3903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 ThreatOps Team &amp; Engineering Contributions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6182" y="2708567"/>
            <a:ext cx="9452677" cy="56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3"/>
              </a:lnSpc>
            </a:pPr>
            <a:r>
              <a:rPr lang="en-US" sz="1501" b="true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Team Lead &amp; Full-Stack AI Engineer:</a:t>
            </a:r>
            <a:r>
              <a:rPr lang="en-US" sz="15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Manthan — sole developer responsible for all system components.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7856182" y="3429000"/>
            <a:ext cx="9452677" cy="1395460"/>
          </a:xfrm>
          <a:custGeom>
            <a:avLst/>
            <a:gdLst/>
            <a:ahLst/>
            <a:cxnLst/>
            <a:rect r="r" b="b" t="t" l="l"/>
            <a:pathLst>
              <a:path h="1395460" w="9452677">
                <a:moveTo>
                  <a:pt x="0" y="0"/>
                </a:moveTo>
                <a:lnTo>
                  <a:pt x="9452677" y="0"/>
                </a:lnTo>
                <a:lnTo>
                  <a:pt x="9452677" y="1395460"/>
                </a:lnTo>
                <a:lnTo>
                  <a:pt x="0" y="13954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79" r="0" b="-48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134102" y="3939731"/>
            <a:ext cx="299218" cy="373999"/>
            <a:chOff x="0" y="0"/>
            <a:chExt cx="398958" cy="4986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8962" cy="498666"/>
            </a:xfrm>
            <a:custGeom>
              <a:avLst/>
              <a:gdLst/>
              <a:ahLst/>
              <a:cxnLst/>
              <a:rect r="r" b="b" t="t" l="l"/>
              <a:pathLst>
                <a:path h="498666" w="398962">
                  <a:moveTo>
                    <a:pt x="0" y="0"/>
                  </a:moveTo>
                  <a:lnTo>
                    <a:pt x="398962" y="0"/>
                  </a:lnTo>
                  <a:lnTo>
                    <a:pt x="398962" y="498666"/>
                  </a:lnTo>
                  <a:lnTo>
                    <a:pt x="0" y="498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68" t="0" r="-11036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98958" cy="50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822950" y="3628463"/>
            <a:ext cx="8257870" cy="34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ML &amp; Data Pipeline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22950" y="4033733"/>
            <a:ext cx="8257870" cy="56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3"/>
              </a:lnSpc>
            </a:pPr>
            <a:r>
              <a:rPr lang="en-US" sz="15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Built the 96.25% XGBoost DGA classification engine with SHAP explainability across 6 fault modes.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7856182" y="4964620"/>
            <a:ext cx="9452677" cy="1395460"/>
          </a:xfrm>
          <a:custGeom>
            <a:avLst/>
            <a:gdLst/>
            <a:ahLst/>
            <a:cxnLst/>
            <a:rect r="r" b="b" t="t" l="l"/>
            <a:pathLst>
              <a:path h="1395460" w="9452677">
                <a:moveTo>
                  <a:pt x="0" y="0"/>
                </a:moveTo>
                <a:lnTo>
                  <a:pt x="9452677" y="0"/>
                </a:lnTo>
                <a:lnTo>
                  <a:pt x="9452677" y="1395461"/>
                </a:lnTo>
                <a:lnTo>
                  <a:pt x="0" y="13954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79" r="0" b="-48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8134102" y="5475351"/>
            <a:ext cx="299218" cy="373999"/>
            <a:chOff x="0" y="0"/>
            <a:chExt cx="398958" cy="4986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8962" cy="498666"/>
            </a:xfrm>
            <a:custGeom>
              <a:avLst/>
              <a:gdLst/>
              <a:ahLst/>
              <a:cxnLst/>
              <a:rect r="r" b="b" t="t" l="l"/>
              <a:pathLst>
                <a:path h="498666" w="398962">
                  <a:moveTo>
                    <a:pt x="0" y="0"/>
                  </a:moveTo>
                  <a:lnTo>
                    <a:pt x="398962" y="0"/>
                  </a:lnTo>
                  <a:lnTo>
                    <a:pt x="398962" y="498666"/>
                  </a:lnTo>
                  <a:lnTo>
                    <a:pt x="0" y="498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68" t="0" r="-110367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98958" cy="50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822950" y="5164074"/>
            <a:ext cx="8257870" cy="34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Frontend Dashboard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22950" y="5569344"/>
            <a:ext cx="8257870" cy="56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3"/>
              </a:lnSpc>
            </a:pPr>
            <a:r>
              <a:rPr lang="en-US" sz="15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Architected Next.js 16 UI with Leaflet GIS mapping, AI Predictions Studio, and Weather Threat Radar.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7856182" y="6500231"/>
            <a:ext cx="9452677" cy="1395460"/>
          </a:xfrm>
          <a:custGeom>
            <a:avLst/>
            <a:gdLst/>
            <a:ahLst/>
            <a:cxnLst/>
            <a:rect r="r" b="b" t="t" l="l"/>
            <a:pathLst>
              <a:path h="1395460" w="9452677">
                <a:moveTo>
                  <a:pt x="0" y="0"/>
                </a:moveTo>
                <a:lnTo>
                  <a:pt x="9452677" y="0"/>
                </a:lnTo>
                <a:lnTo>
                  <a:pt x="9452677" y="1395461"/>
                </a:lnTo>
                <a:lnTo>
                  <a:pt x="0" y="13954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79" r="0" b="-48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8134102" y="7010962"/>
            <a:ext cx="299218" cy="373999"/>
            <a:chOff x="0" y="0"/>
            <a:chExt cx="398958" cy="4986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8962" cy="498666"/>
            </a:xfrm>
            <a:custGeom>
              <a:avLst/>
              <a:gdLst/>
              <a:ahLst/>
              <a:cxnLst/>
              <a:rect r="r" b="b" t="t" l="l"/>
              <a:pathLst>
                <a:path h="498666" w="398962">
                  <a:moveTo>
                    <a:pt x="0" y="0"/>
                  </a:moveTo>
                  <a:lnTo>
                    <a:pt x="398962" y="0"/>
                  </a:lnTo>
                  <a:lnTo>
                    <a:pt x="398962" y="498666"/>
                  </a:lnTo>
                  <a:lnTo>
                    <a:pt x="0" y="498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68" t="0" r="-11036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98958" cy="50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822950" y="6699695"/>
            <a:ext cx="8257870" cy="34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Backend &amp; Database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22950" y="7104964"/>
            <a:ext cx="8257870" cy="56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3"/>
              </a:lnSpc>
            </a:pPr>
            <a:r>
              <a:rPr lang="en-US" sz="15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Developed Python FastAPI microservices and Neon PostgreSQL ORM schemas for assets, sensors, and crews.</a:t>
            </a:r>
          </a:p>
        </p:txBody>
      </p:sp>
      <p:sp>
        <p:nvSpPr>
          <p:cNvPr name="Freeform 31" id="31" descr="preencoded.png"/>
          <p:cNvSpPr/>
          <p:nvPr/>
        </p:nvSpPr>
        <p:spPr>
          <a:xfrm flipH="false" flipV="false" rot="0">
            <a:off x="7856182" y="8035852"/>
            <a:ext cx="9452677" cy="1395460"/>
          </a:xfrm>
          <a:custGeom>
            <a:avLst/>
            <a:gdLst/>
            <a:ahLst/>
            <a:cxnLst/>
            <a:rect r="r" b="b" t="t" l="l"/>
            <a:pathLst>
              <a:path h="1395460" w="9452677">
                <a:moveTo>
                  <a:pt x="0" y="0"/>
                </a:moveTo>
                <a:lnTo>
                  <a:pt x="9452677" y="0"/>
                </a:lnTo>
                <a:lnTo>
                  <a:pt x="9452677" y="1395460"/>
                </a:lnTo>
                <a:lnTo>
                  <a:pt x="0" y="13954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479" r="0" b="-48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8134102" y="8546582"/>
            <a:ext cx="299218" cy="373999"/>
            <a:chOff x="0" y="0"/>
            <a:chExt cx="398958" cy="4986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8962" cy="498666"/>
            </a:xfrm>
            <a:custGeom>
              <a:avLst/>
              <a:gdLst/>
              <a:ahLst/>
              <a:cxnLst/>
              <a:rect r="r" b="b" t="t" l="l"/>
              <a:pathLst>
                <a:path h="498666" w="398962">
                  <a:moveTo>
                    <a:pt x="0" y="0"/>
                  </a:moveTo>
                  <a:lnTo>
                    <a:pt x="398962" y="0"/>
                  </a:lnTo>
                  <a:lnTo>
                    <a:pt x="398962" y="498666"/>
                  </a:lnTo>
                  <a:lnTo>
                    <a:pt x="0" y="498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68" t="0" r="-11036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98958" cy="50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>
                  <a:solidFill>
                    <a:srgbClr val="504C49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822950" y="8235315"/>
            <a:ext cx="8257870" cy="34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GIS &amp; Workflows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822950" y="8640585"/>
            <a:ext cx="8257870" cy="562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3"/>
              </a:lnSpc>
            </a:pPr>
            <a:r>
              <a:rPr lang="en-US" sz="15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Mapped 836+ Gujarat assets across 33 districts with automated crew dispatcher and weather forecasting.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028757"/>
            <a:ext cx="1036625" cy="397231"/>
            <a:chOff x="0" y="0"/>
            <a:chExt cx="1382166" cy="5296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2268" cy="529717"/>
            </a:xfrm>
            <a:custGeom>
              <a:avLst/>
              <a:gdLst/>
              <a:ahLst/>
              <a:cxnLst/>
              <a:rect r="r" b="b" t="t" l="l"/>
              <a:pathLst>
                <a:path h="529717" w="1382268">
                  <a:moveTo>
                    <a:pt x="0" y="41910"/>
                  </a:moveTo>
                  <a:cubicBezTo>
                    <a:pt x="0" y="18796"/>
                    <a:pt x="18796" y="0"/>
                    <a:pt x="41910" y="0"/>
                  </a:cubicBezTo>
                  <a:lnTo>
                    <a:pt x="1340358" y="0"/>
                  </a:lnTo>
                  <a:cubicBezTo>
                    <a:pt x="1363472" y="0"/>
                    <a:pt x="1382268" y="18796"/>
                    <a:pt x="1382268" y="41910"/>
                  </a:cubicBezTo>
                  <a:lnTo>
                    <a:pt x="1382268" y="487807"/>
                  </a:lnTo>
                  <a:cubicBezTo>
                    <a:pt x="1382268" y="510921"/>
                    <a:pt x="1363472" y="529717"/>
                    <a:pt x="1340358" y="529717"/>
                  </a:cubicBezTo>
                  <a:lnTo>
                    <a:pt x="41910" y="529717"/>
                  </a:lnTo>
                  <a:cubicBezTo>
                    <a:pt x="18796" y="529717"/>
                    <a:pt x="0" y="510921"/>
                    <a:pt x="0" y="487807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9820" y="1116625"/>
            <a:ext cx="1638052" cy="231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57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VISION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474737"/>
            <a:ext cx="16315868" cy="92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9"/>
              </a:lnSpc>
            </a:pPr>
            <a:r>
              <a:rPr lang="en-US" sz="510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🔭</a:t>
            </a:r>
            <a:r>
              <a:rPr lang="en-US" sz="5103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 The Road Ahead: Scaling ThreatOps Nationally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991" y="3070784"/>
            <a:ext cx="10381917" cy="5883154"/>
            <a:chOff x="0" y="0"/>
            <a:chExt cx="13842555" cy="784420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3842492" cy="7844155"/>
            </a:xfrm>
            <a:custGeom>
              <a:avLst/>
              <a:gdLst/>
              <a:ahLst/>
              <a:cxnLst/>
              <a:rect r="r" b="b" t="t" l="l"/>
              <a:pathLst>
                <a:path h="7844155" w="13842492">
                  <a:moveTo>
                    <a:pt x="0" y="0"/>
                  </a:moveTo>
                  <a:lnTo>
                    <a:pt x="13842492" y="0"/>
                  </a:lnTo>
                  <a:lnTo>
                    <a:pt x="13842492" y="7844155"/>
                  </a:lnTo>
                  <a:lnTo>
                    <a:pt x="0" y="7844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022503" y="2980696"/>
            <a:ext cx="5295738" cy="42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Phase 1 — Gujarat State Rollout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22503" y="3573237"/>
            <a:ext cx="5295738" cy="128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Deploy live across all GETCO substations with real-time SCADA integration and operator training programs.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22503" y="5077530"/>
            <a:ext cx="5295738" cy="42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Phase 2 — National Expansion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22503" y="5670080"/>
            <a:ext cx="5295738" cy="128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Extend to PGCIL, NTPC, and state electricity boards across India's 4,000+ high-voltage substations.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22503" y="7174373"/>
            <a:ext cx="5295738" cy="42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Phase 3 — Predictive Intelligence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22503" y="7766923"/>
            <a:ext cx="5295738" cy="128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Integrate federated learning for continuous model improvement and cross-grid anomaly pattern sharing.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7F3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8649" y="0"/>
            <a:ext cx="6863191" cy="10287000"/>
            <a:chOff x="0" y="0"/>
            <a:chExt cx="9150922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15949"/>
            </a:xfrm>
            <a:custGeom>
              <a:avLst/>
              <a:gdLst/>
              <a:ahLst/>
              <a:cxnLst/>
              <a:rect r="r" b="b" t="t" l="l"/>
              <a:pathLst>
                <a:path h="13715949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15949"/>
                  </a:lnTo>
                  <a:lnTo>
                    <a:pt x="0" y="13715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7" r="0" b="-3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991" y="804301"/>
            <a:ext cx="1082354" cy="350168"/>
            <a:chOff x="0" y="0"/>
            <a:chExt cx="1443139" cy="466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3101" cy="466852"/>
            </a:xfrm>
            <a:custGeom>
              <a:avLst/>
              <a:gdLst/>
              <a:ahLst/>
              <a:cxnLst/>
              <a:rect r="r" b="b" t="t" l="l"/>
              <a:pathLst>
                <a:path h="466852" w="1443101">
                  <a:moveTo>
                    <a:pt x="0" y="36830"/>
                  </a:moveTo>
                  <a:cubicBezTo>
                    <a:pt x="0" y="16510"/>
                    <a:pt x="16510" y="0"/>
                    <a:pt x="36830" y="0"/>
                  </a:cubicBezTo>
                  <a:lnTo>
                    <a:pt x="1406271" y="0"/>
                  </a:lnTo>
                  <a:cubicBezTo>
                    <a:pt x="1426591" y="0"/>
                    <a:pt x="1443101" y="16510"/>
                    <a:pt x="1443101" y="36830"/>
                  </a:cubicBezTo>
                  <a:lnTo>
                    <a:pt x="1443101" y="430022"/>
                  </a:lnTo>
                  <a:cubicBezTo>
                    <a:pt x="1443101" y="450342"/>
                    <a:pt x="1426591" y="466852"/>
                    <a:pt x="1406271" y="466852"/>
                  </a:cubicBezTo>
                  <a:lnTo>
                    <a:pt x="36830" y="466852"/>
                  </a:lnTo>
                  <a:cubicBezTo>
                    <a:pt x="16510" y="466852"/>
                    <a:pt x="0" y="450342"/>
                    <a:pt x="0" y="430022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31208" y="873414"/>
            <a:ext cx="1721015" cy="21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2"/>
              </a:lnSpc>
            </a:pPr>
            <a:r>
              <a:rPr lang="en-US" sz="1426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CLOSING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1181767"/>
            <a:ext cx="9452677" cy="203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</a:pPr>
            <a:r>
              <a:rPr lang="en-US" sz="6229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Predict. Prevent. Keep the Grid 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3451079"/>
            <a:ext cx="9452677" cy="105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ThreatOps eliminates silent transformer failures through explainable AI, statewide GIS visibility, and automated crew dispatch — saving lives, infrastructure, and billions in emergency costs.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991" y="4712008"/>
            <a:ext cx="4632655" cy="1620812"/>
            <a:chOff x="0" y="0"/>
            <a:chExt cx="6176874" cy="21610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76899" cy="2161032"/>
            </a:xfrm>
            <a:custGeom>
              <a:avLst/>
              <a:gdLst/>
              <a:ahLst/>
              <a:cxnLst/>
              <a:rect r="r" b="b" t="t" l="l"/>
              <a:pathLst>
                <a:path h="2161032" w="6176899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6130798" y="0"/>
                  </a:lnTo>
                  <a:cubicBezTo>
                    <a:pt x="6156325" y="0"/>
                    <a:pt x="6176899" y="20701"/>
                    <a:pt x="6176899" y="46101"/>
                  </a:cubicBezTo>
                  <a:lnTo>
                    <a:pt x="6176899" y="2114931"/>
                  </a:lnTo>
                  <a:cubicBezTo>
                    <a:pt x="6176899" y="2140458"/>
                    <a:pt x="6156198" y="2161032"/>
                    <a:pt x="6130798" y="2161032"/>
                  </a:cubicBezTo>
                  <a:lnTo>
                    <a:pt x="46101" y="2161032"/>
                  </a:lnTo>
                  <a:cubicBezTo>
                    <a:pt x="20574" y="2161032"/>
                    <a:pt x="0" y="2140331"/>
                    <a:pt x="0" y="211493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23401" y="4913852"/>
            <a:ext cx="4171836" cy="40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🤖</a:t>
            </a:r>
            <a:r>
              <a:rPr lang="en-US" sz="2251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 AI-Powered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3401" y="5386321"/>
            <a:ext cx="4171836" cy="71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96.25% accurate XGBoost fault classification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12860" y="4712008"/>
            <a:ext cx="4632798" cy="1620812"/>
            <a:chOff x="0" y="0"/>
            <a:chExt cx="6177064" cy="21610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77026" cy="2161032"/>
            </a:xfrm>
            <a:custGeom>
              <a:avLst/>
              <a:gdLst/>
              <a:ahLst/>
              <a:cxnLst/>
              <a:rect r="r" b="b" t="t" l="l"/>
              <a:pathLst>
                <a:path h="2161032" w="6177026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6130925" y="0"/>
                  </a:lnTo>
                  <a:cubicBezTo>
                    <a:pt x="6156452" y="0"/>
                    <a:pt x="6177026" y="20701"/>
                    <a:pt x="6177026" y="46101"/>
                  </a:cubicBezTo>
                  <a:lnTo>
                    <a:pt x="6177026" y="2114931"/>
                  </a:lnTo>
                  <a:cubicBezTo>
                    <a:pt x="6177026" y="2140458"/>
                    <a:pt x="6156325" y="2161032"/>
                    <a:pt x="6130925" y="2161032"/>
                  </a:cubicBezTo>
                  <a:lnTo>
                    <a:pt x="46101" y="2161032"/>
                  </a:lnTo>
                  <a:cubicBezTo>
                    <a:pt x="20574" y="2161032"/>
                    <a:pt x="0" y="2140331"/>
                    <a:pt x="0" y="2114931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043270" y="4913852"/>
            <a:ext cx="4171979" cy="40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🗺️</a:t>
            </a:r>
            <a:r>
              <a:rPr lang="en-US" sz="2251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 Statewide Scale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43270" y="5386321"/>
            <a:ext cx="4171979" cy="38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836+ assets across 33 Gujarat districts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991" y="6520043"/>
            <a:ext cx="9452677" cy="1286580"/>
            <a:chOff x="0" y="0"/>
            <a:chExt cx="12603569" cy="1715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03607" cy="1715389"/>
            </a:xfrm>
            <a:custGeom>
              <a:avLst/>
              <a:gdLst/>
              <a:ahLst/>
              <a:cxnLst/>
              <a:rect r="r" b="b" t="t" l="l"/>
              <a:pathLst>
                <a:path h="1715389" w="12603607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12557506" y="0"/>
                  </a:lnTo>
                  <a:cubicBezTo>
                    <a:pt x="12583033" y="0"/>
                    <a:pt x="12603607" y="20701"/>
                    <a:pt x="12603607" y="46101"/>
                  </a:cubicBezTo>
                  <a:lnTo>
                    <a:pt x="12603607" y="1669288"/>
                  </a:lnTo>
                  <a:cubicBezTo>
                    <a:pt x="12603607" y="1694815"/>
                    <a:pt x="12582906" y="1715389"/>
                    <a:pt x="12557506" y="1715389"/>
                  </a:cubicBezTo>
                  <a:lnTo>
                    <a:pt x="46101" y="1715389"/>
                  </a:lnTo>
                  <a:cubicBezTo>
                    <a:pt x="20574" y="1715389"/>
                    <a:pt x="0" y="1694688"/>
                    <a:pt x="0" y="1669288"/>
                  </a:cubicBezTo>
                  <a:close/>
                </a:path>
              </a:pathLst>
            </a:custGeom>
            <a:solidFill>
              <a:srgbClr val="F9F7F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23401" y="6721888"/>
            <a:ext cx="8991848" cy="40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⚡</a:t>
            </a:r>
            <a:r>
              <a:rPr lang="en-US" sz="2251">
                <a:solidFill>
                  <a:srgbClr val="504C49"/>
                </a:solidFill>
                <a:latin typeface="Arimo"/>
                <a:ea typeface="Arimo"/>
                <a:cs typeface="Arimo"/>
                <a:sym typeface="Arimo"/>
              </a:rPr>
              <a:t> Zero Downtime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3401" y="7194356"/>
            <a:ext cx="8991848" cy="38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Proactive dispatch before outages occur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2991" y="8017240"/>
            <a:ext cx="9452677" cy="1473356"/>
            <a:chOff x="0" y="0"/>
            <a:chExt cx="12603569" cy="19644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603607" cy="1964436"/>
            </a:xfrm>
            <a:custGeom>
              <a:avLst/>
              <a:gdLst/>
              <a:ahLst/>
              <a:cxnLst/>
              <a:rect r="r" b="b" t="t" l="l"/>
              <a:pathLst>
                <a:path h="1964436" w="12603607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12557506" y="0"/>
                  </a:lnTo>
                  <a:cubicBezTo>
                    <a:pt x="12583033" y="0"/>
                    <a:pt x="12603607" y="20701"/>
                    <a:pt x="12603607" y="46101"/>
                  </a:cubicBezTo>
                  <a:lnTo>
                    <a:pt x="12603607" y="1918335"/>
                  </a:lnTo>
                  <a:cubicBezTo>
                    <a:pt x="12603607" y="1943862"/>
                    <a:pt x="12582906" y="1964436"/>
                    <a:pt x="12557506" y="1964436"/>
                  </a:cubicBezTo>
                  <a:lnTo>
                    <a:pt x="46101" y="1964436"/>
                  </a:lnTo>
                  <a:cubicBezTo>
                    <a:pt x="20574" y="1964436"/>
                    <a:pt x="0" y="1943735"/>
                    <a:pt x="0" y="1918335"/>
                  </a:cubicBezTo>
                  <a:close/>
                </a:path>
              </a:pathLst>
            </a:custGeom>
            <a:solidFill>
              <a:srgbClr val="F3E3D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23401" y="8289055"/>
            <a:ext cx="288055" cy="230419"/>
            <a:chOff x="0" y="0"/>
            <a:chExt cx="384073" cy="30722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84048" cy="307213"/>
            </a:xfrm>
            <a:custGeom>
              <a:avLst/>
              <a:gdLst/>
              <a:ahLst/>
              <a:cxnLst/>
              <a:rect r="r" b="b" t="t" l="l"/>
              <a:pathLst>
                <a:path h="307213" w="384048">
                  <a:moveTo>
                    <a:pt x="0" y="0"/>
                  </a:moveTo>
                  <a:lnTo>
                    <a:pt x="384048" y="0"/>
                  </a:lnTo>
                  <a:lnTo>
                    <a:pt x="384048" y="307213"/>
                  </a:lnTo>
                  <a:lnTo>
                    <a:pt x="0" y="307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9" r="-6" b="-409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741865" y="8214322"/>
            <a:ext cx="8473392" cy="105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 b="true">
                <a:solidFill>
                  <a:srgbClr val="000000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ThreatOps</a:t>
            </a:r>
            <a:r>
              <a:rPr lang="en-US" sz="1801">
                <a:solidFill>
                  <a:srgbClr val="000000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 — Built for the Bob AI Hackathon by Manthan (Team Lead &amp; Full-Stack AI Architect). Target infrastructure: High-voltage electrical power grids across Gujarat.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DAHVP8ip1Ks</dc:identifier>
  <dcterms:modified xsi:type="dcterms:W3CDTF">2011-08-01T06:04:30Z</dcterms:modified>
  <cp:revision>1</cp:revision>
  <dc:title>Slides</dc:title>
</cp:coreProperties>
</file>